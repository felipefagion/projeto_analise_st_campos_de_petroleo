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515600" cy="2926080"/>
          </a:xfrm>
          <a:prstGeom prst="rect">
            <a:avLst/>
          </a:prstGeom>
          <a:solidFill>
            <a:srgbClr val="14356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Análise de Séries Temporais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5A623"/>
                </a:solidFill>
              </a:rPr>
              <a:t>em Campos de Petróleo Brasileiros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DDF0"/>
                </a:solidFill>
              </a:rPr>
              <a:t>Previsão de Produção para Suporte à Decisão Estratégica da Petrobras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89120"/>
            <a:ext cx="7772400" cy="1828800"/>
          </a:xfrm>
          <a:prstGeom prst="rect">
            <a:avLst/>
          </a:prstGeom>
          <a:solidFill>
            <a:srgbClr val="061024"/>
          </a:solidFill>
          <a:ln>
            <a:solidFill>
              <a:srgbClr val="143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988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Equipe: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Felipe Fagion Longarini (10449950)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Gleider Mackedanz de Campos (10433648)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Lucas Oliveira (10433464)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4389120"/>
            <a:ext cx="3291840" cy="1828800"/>
          </a:xfrm>
          <a:prstGeom prst="rect">
            <a:avLst/>
          </a:prstGeom>
          <a:solidFill>
            <a:srgbClr val="061024"/>
          </a:solidFill>
          <a:ln>
            <a:solidFill>
              <a:srgbClr val="143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45720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F0"/>
                </a:solidFill>
              </a:rPr>
              <a:t>Universidade Presbiteriana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Mackenzie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/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Projeto Aplicado IV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|  Introdução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10285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9496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Contexto e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7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DF0"/>
                </a:solidFill>
              </a:rPr>
              <a:t>A Petrobras avalia estrategicamente seus ativos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de exploração de petróleo offshore.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Decisões de desinvestimento dependem de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previsões confiáveis de produção futura.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Avaliações imprecisas podem gerar perdas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ou ganhos de bilhões de reais.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Objetivo: desenvolver modelos de previsão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de séries temporais de produção para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4 campos estratégicos.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25880"/>
            <a:ext cx="2926080" cy="5212080"/>
          </a:xfrm>
          <a:prstGeom prst="rect">
            <a:avLst/>
          </a:prstGeom>
          <a:solidFill>
            <a:srgbClr val="102850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292608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1371600"/>
            <a:ext cx="2706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</a:rPr>
              <a:t>Campos Analisados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47087"/>
            <a:ext cx="2651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DF0"/>
                </a:solidFill>
              </a:rPr>
              <a:t>▸  MARLIM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207 meses (2005–2022)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Tendência de declínio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▸  SAPINHOÁ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117 meses (2010–2022)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Crescimento e estabilização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▸  CANTO DO AMARO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207 meses (2005–2022)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Declínio gradual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▸  TUPI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21 meses (2020–2022)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 Série muito curta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325880"/>
            <a:ext cx="2834640" cy="5212080"/>
          </a:xfrm>
          <a:prstGeom prst="rect">
            <a:avLst/>
          </a:prstGeom>
          <a:solidFill>
            <a:srgbClr val="10285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1325880"/>
            <a:ext cx="2834640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1371600"/>
            <a:ext cx="26151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Base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847087"/>
            <a:ext cx="25603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DF0"/>
                </a:solidFill>
              </a:rPr>
              <a:t>Fonte: ANP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(Agência Nacional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do Petróleo)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Via: Kaggle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247.832 registros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mensais de produção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Variável-alvo: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Óleo (bbl/dia)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Período: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Jan/2005 – Mar/2022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|  Referencial Teórico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743200" cy="5257800"/>
          </a:xfrm>
          <a:prstGeom prst="rect">
            <a:avLst/>
          </a:prstGeom>
          <a:solidFill>
            <a:srgbClr val="10285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Séries Temporais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10512"/>
            <a:ext cx="2468880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Sequência de observações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indexadas no tempo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Componentes: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• Tendência (trend)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• Sazonalidade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• Ciclicidade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• Ruído / Resíduo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Ferramenta: decomposição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aditiva ou multiplicativa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Autocorrelação: ACF e PACF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revelam a memória da série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743200" cy="5257800"/>
          </a:xfrm>
          <a:prstGeom prst="rect">
            <a:avLst/>
          </a:prstGeom>
          <a:solidFill>
            <a:srgbClr val="10285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74320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</a:rPr>
              <a:t>SARIMA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10512"/>
            <a:ext cx="2468880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Seasonal ARIMA: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extensão do ARIMA com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componente sazonal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SARIMA(p,d,q)(P,D,Q)[s]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p,q → AR e MA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d   → diferenciação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P,Q → AR e MA sazonal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D   → dif. sazonal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s   → período (12)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Seleção de hiperparâmetros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via AIC (Grid Search)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5257800"/>
          </a:xfrm>
          <a:prstGeom prst="rect">
            <a:avLst/>
          </a:prstGeom>
          <a:solidFill>
            <a:srgbClr val="10285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3E"/>
                </a:solidFill>
              </a:rPr>
              <a:t>Estacionariedade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10512"/>
            <a:ext cx="2468880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Requisito fundamental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para o ARIMA/SARIMA: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média e variância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constantes no tempo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Diagnóstico: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Teste ADF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(Augmented Dickey-Fuller)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H₀: série não-estacionária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Solução: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Diferenciação (d=1)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Dif. sazonal (D=1)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743200" cy="5257800"/>
          </a:xfrm>
          <a:prstGeom prst="rect">
            <a:avLst/>
          </a:prstGeom>
          <a:solidFill>
            <a:srgbClr val="102850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280160"/>
            <a:ext cx="2743200" cy="43891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Métricas de Avaliação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10512"/>
            <a:ext cx="2468880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MAE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Erro Absoluto Médio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(bbl/dia)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RMSE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Raiz do Erro Quadrático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Médio – penaliza outliers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MAPE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Erro % Médio Absoluto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(interpretável)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AIC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Critério de seleção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do modelo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|  Diagrama de Solução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" y="2011680"/>
            <a:ext cx="1755648" cy="2560320"/>
          </a:xfrm>
          <a:prstGeom prst="rect">
            <a:avLst/>
          </a:prstGeom>
          <a:solidFill>
            <a:srgbClr val="10285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" y="2011680"/>
            <a:ext cx="1755648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" y="205740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
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" y="2651760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0"/>
                </a:solidFill>
              </a:rPr>
              <a:t>ANP / Kaggle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247K registros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2005–2022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0435" y="3164840"/>
            <a:ext cx="14081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1428" y="2011680"/>
            <a:ext cx="1755648" cy="2560320"/>
          </a:xfrm>
          <a:prstGeom prst="rect">
            <a:avLst/>
          </a:prstGeom>
          <a:solidFill>
            <a:srgbClr val="10285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1428" y="2011680"/>
            <a:ext cx="175564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2868" y="205740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2
Pré-proc.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1156" y="2651760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0"/>
                </a:solidFill>
              </a:rPr>
              <a:t>Limpeza 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filtros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Agregação mensal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7251" y="3164840"/>
            <a:ext cx="14081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8244" y="2011680"/>
            <a:ext cx="1755648" cy="2560320"/>
          </a:xfrm>
          <a:prstGeom prst="rect">
            <a:avLst/>
          </a:prstGeom>
          <a:solidFill>
            <a:srgbClr val="10285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8244" y="2011680"/>
            <a:ext cx="1755648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9684" y="205740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3
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7972" y="2651760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0"/>
                </a:solidFill>
              </a:rPr>
              <a:t>Decomposição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ACF / PACF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Teste ADF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4067" y="3164840"/>
            <a:ext cx="14081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060" y="2011680"/>
            <a:ext cx="1755648" cy="2560320"/>
          </a:xfrm>
          <a:prstGeom prst="rect">
            <a:avLst/>
          </a:prstGeom>
          <a:solidFill>
            <a:srgbClr val="102850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5060" y="2011680"/>
            <a:ext cx="1755648" cy="5486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500" y="205740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
Modelagem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4788" y="2651760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0"/>
                </a:solidFill>
              </a:rPr>
              <a:t>Baseline Naive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Grid Search AIC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SARIMA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0883" y="3164840"/>
            <a:ext cx="14081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B47BC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1876" y="2011680"/>
            <a:ext cx="1755648" cy="2560320"/>
          </a:xfrm>
          <a:prstGeom prst="rect">
            <a:avLst/>
          </a:prstGeom>
          <a:solidFill>
            <a:srgbClr val="10285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1876" y="2011680"/>
            <a:ext cx="1755648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3316" y="205740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
Avaliação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1604" y="2651760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0"/>
                </a:solidFill>
              </a:rPr>
              <a:t>MAE · RMSE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MAPE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vs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7699" y="3164840"/>
            <a:ext cx="14081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8692" y="2011680"/>
            <a:ext cx="1755648" cy="2560320"/>
          </a:xfrm>
          <a:prstGeom prst="rect">
            <a:avLst/>
          </a:prstGeom>
          <a:solidFill>
            <a:srgbClr val="10285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8692" y="2011680"/>
            <a:ext cx="175564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0132" y="205740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6
Resultados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8420" y="2651760"/>
            <a:ext cx="1536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0"/>
                </a:solidFill>
              </a:rPr>
              <a:t>Previsões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IC 95%</a:t>
            </a:r>
          </a:p>
          <a:p>
            <a:pPr algn="ctr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Insights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00600"/>
            <a:ext cx="11640312" cy="1737360"/>
          </a:xfrm>
          <a:prstGeom prst="rect">
            <a:avLst/>
          </a:prstGeom>
          <a:solidFill>
            <a:srgbClr val="061024"/>
          </a:solidFill>
          <a:ln>
            <a:solidFill>
              <a:srgbClr val="143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91032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Campos: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85232"/>
            <a:ext cx="114574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MARLIM (207 meses)  |  SAPINHOÁ (117 meses)  |  CANTO DO AMARO (207 meses)  |  TUPI (21 meses – série curta, não modelável)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Ferramenta: Python  ·  pandas  ·  statsmodels  · 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|  EDA &amp; Pré-processamento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86384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234440"/>
            <a:ext cx="3657600" cy="5394960"/>
          </a:xfrm>
          <a:prstGeom prst="rect">
            <a:avLst/>
          </a:prstGeom>
          <a:solidFill>
            <a:srgbClr val="10285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133502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Pré-processamento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1755648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DDF0"/>
                </a:solidFill>
              </a:rPr>
              <a:t>① Conversão de tipos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Período  →  datetime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Numéricas  →  float64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② Filtragem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Seleção dos 4 campos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de interesse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③ Agregação mensal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Soma por campo × mês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④ Limpeza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Remoção de registros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com produção = 0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⑤ Preenchimento temporal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Interpolação de datas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ausentes na série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⑥ Estacionariedade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Teste ADF → d=1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Dif. sazonal → D=1</a:t>
            </a:r>
          </a:p>
          <a:p>
            <a:pPr algn="l">
              <a:spcBef>
                <a:spcPts val="300"/>
              </a:spcBef>
            </a:pPr>
            <a:r>
              <a:rPr sz="1150" b="0">
                <a:solidFill>
                  <a:srgbClr val="CCDDF0"/>
                </a:solidFill>
              </a:rPr>
              <a:t>   ACF/PACF para p,q,P,Q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| 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669280" cy="5349240"/>
          </a:xfrm>
          <a:prstGeom prst="rect">
            <a:avLst/>
          </a:prstGeom>
          <a:solidFill>
            <a:srgbClr val="102850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SARIMA – Técnica Utilizada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1368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0"/>
                </a:solidFill>
              </a:rPr>
              <a:t>O SARIMA (Seasonal ARIMA) é um modelo estatístico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para séries temporais com padrão sazonal.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Diferencia a série para torná-la estacionária (d=1)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e aplica componentes autoregressivos (AR) e de média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móvel (MA) tanto na escala regular quanto na sazonal.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Estratégia de seleção (Grid Search):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• p, q  ∈  {0, 1, 2}  —  componentes não-sazonais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• P, Q  ∈  {0, 1}     —  componentes sazonais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• d = 1, D = 1, s = 12  (fixados pelo ADF)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• Critério de seleção: AIC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  (Penaliza modelos mais complexos)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Melhor configuração encontrada: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SARIMA(0,1,2)(1,1,1)[12]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AIC = 3.776,89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Conjunto de treino: Jan/2005 → Mar/2021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Conjunto de teste:  Abr/2021 → Mar/2022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CCDDF0"/>
                </a:solidFill>
              </a:rPr>
              <a:t>                    (12 meses)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5715000" cy="5349240"/>
          </a:xfrm>
          <a:prstGeom prst="rect">
            <a:avLst/>
          </a:prstGeom>
          <a:solidFill>
            <a:srgbClr val="10285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898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Desempenho – Campo MARLIM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20240"/>
            <a:ext cx="5349240" cy="1234440"/>
          </a:xfrm>
          <a:prstGeom prst="rect">
            <a:avLst/>
          </a:prstGeom>
          <a:solidFill>
            <a:srgbClr val="061024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9339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9339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11.504 bbl/dia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5420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5A623"/>
                </a:solidFill>
              </a:rPr>
              <a:t>↓ 44,7% vs Naive Sazonal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337560"/>
            <a:ext cx="5349240" cy="1234440"/>
          </a:xfrm>
          <a:prstGeom prst="rect">
            <a:avLst/>
          </a:prstGeom>
          <a:solidFill>
            <a:srgbClr val="06102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107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41071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12.813 bbl/dia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9593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0B4D8"/>
                </a:solidFill>
              </a:rPr>
              <a:t>↓ 50,4% vs Naive Sazonal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754880"/>
            <a:ext cx="5349240" cy="1234440"/>
          </a:xfrm>
          <a:prstGeom prst="rect">
            <a:avLst/>
          </a:prstGeom>
          <a:solidFill>
            <a:srgbClr val="06102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2803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MAPE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82803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31,70%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53766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2ECC71"/>
                </a:solidFill>
              </a:rPr>
              <a:t>erro relativo médio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6172200"/>
            <a:ext cx="5349240" cy="347472"/>
          </a:xfrm>
          <a:prstGeom prst="rect">
            <a:avLst/>
          </a:prstGeom>
          <a:solidFill>
            <a:srgbClr val="3D0606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61904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Baseline Naive Sazonal:  MAE = 20.785  |  RMSE = 25.831  |  MAPE = 60,89%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|  Resultados – Previsões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8686800" cy="32918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8686800" cy="2103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0" y="1234440"/>
            <a:ext cx="2788920" cy="5440680"/>
          </a:xfrm>
          <a:prstGeom prst="rect">
            <a:avLst/>
          </a:prstGeom>
          <a:solidFill>
            <a:srgbClr val="102850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1344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Achados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783080"/>
            <a:ext cx="2560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0"/>
                </a:solidFill>
              </a:rPr>
              <a:t>✓ SARIMA supera 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baseline em todas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as métricas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✓ RMSE 50% menor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que o Naive Sazonal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✓ IC 95% consistente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ao longo de todo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o horizonte de teste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✓ Sazonalidade anual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(12 meses) captada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com fidelidade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⚠ MAPE 31,7% indica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limitações em mag-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nitude absoluta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⚠ TUPI: 21 observações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— série insuficiente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DF0"/>
                </a:solidFill>
              </a:rPr>
              <a:t>  para modelagem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3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|  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577840" cy="5257800"/>
          </a:xfrm>
          <a:prstGeom prst="rect">
            <a:avLst/>
          </a:prstGeom>
          <a:solidFill>
            <a:srgbClr val="10285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</a:rPr>
              <a:t>Conclusões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DF0"/>
                </a:solidFill>
              </a:rPr>
              <a:t>• O SARIMA(0,1,2)(1,1,1)[12] é eficaz para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previsão mensal de produção de petróleo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Reduções de 44,7% no MAE e 50,4% no RMSE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em relação ao baseline Naive Sazonal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A abordagem embasa decisões estratégicas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de desinvestimento com maior segurança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Sazonalidade anual consistente em todos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os campos com série suficientemente longa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TUPI (21 obs.) não é modelável — exige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acúmulo de dados históricos adicionais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AIC como critério de seleção se mostrou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eficiente para balancear fit vs complexidade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325880"/>
            <a:ext cx="5852160" cy="5257800"/>
          </a:xfrm>
          <a:prstGeom prst="rect">
            <a:avLst/>
          </a:prstGeom>
          <a:solidFill>
            <a:srgbClr val="10285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325880"/>
            <a:ext cx="585216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</a:rPr>
              <a:t>Trabalhos Futuros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DF0"/>
                </a:solidFill>
              </a:rPr>
              <a:t>• Implementar LSTM para capturar dependências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não-lineares e de longo prazo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Avaliar modelos híbridos: STL + ML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(XGBoost, Random Forest)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Incorporar variáveis exógenas: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preço do Brent, paradas operacionais,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manutenção preventiva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Aplicar pipeline individualmente a cada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campo com parâmetros otimizados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Implementar validação walk-forward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(janela deslizante) para maior rigor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• Extender para todos os campos da ANP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CCDDF0"/>
                </a:solidFill>
              </a:rPr>
              <a:t>  disponíveis na base de dados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